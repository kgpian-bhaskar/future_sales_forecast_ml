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7F64-4C54-2728-BFC5-8238C37B4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2F215-CACF-56F5-01A3-101B9AC19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74F03-226E-061C-F906-A12F67F8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10888-9AF9-E156-0C95-49FD5F499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9CE7-1749-8C47-557D-AC939471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493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1B59-C566-4C74-E6B2-70EB032F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9923A-F20D-3156-BBB5-D01801A88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EF024-6DF9-05EE-630E-3BD1F8D1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34DF3-36A9-0D3F-1938-A2495E723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C36-A76E-7302-9259-46958590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17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B20ED-F357-BC7A-2775-97958491B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24C7F-3F86-F9BA-708F-337CDAA60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5D5F8-81B9-1CC2-EC81-70D96C09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7F255-DED9-7F5D-BF5E-B65C5E759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AF4D1-6650-111E-B511-4DBA8106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59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8B50-79CE-2ADC-5188-B7340F4C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58AC0-64F4-C20F-5D63-7F0ACC518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3B2AA-3251-4B04-70A3-2560C0F9F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1F67A-BB6E-C4D6-A515-BB7E96399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E52D2-FF40-3CA3-2030-778455DE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88391-0415-E868-1ACC-02A87463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63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8F5A-FC45-4122-D046-87F3864F7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F4D65-8FF8-4777-C1FB-39F3768E3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E27B-D1B3-AF43-0A8E-2EB51E8B3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034F30-6AEF-21C5-AD37-1F7B960B4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2A79B-793E-08A0-26E6-566D0AE6DE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A573B7-F4BE-0FF6-1151-BD516DF99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8B9EB0-21A4-698F-F540-61CA084E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2E9BC-D04A-A8B4-8518-7A0E99CA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4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B355-AE73-57A6-54EC-83A7AE0A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7AB50-BC2E-785B-2A1A-E412E6971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922BE-9E15-11FA-0F14-F87AEA8E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89F11-EA4D-BEAC-0D0C-089794CC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8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5CFC34-AF2C-9E39-A29E-EF794F37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904E3-B319-6D89-9AD7-E1EBAD40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56820-1D38-70F1-A5AB-03BD00D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36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376F-CEB3-A7A1-59A8-87B1D082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97E8C-F464-75D3-2AF9-6EDDF0D74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45FC8-2E93-3461-1C67-0374D441F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83107-70FD-8FE3-34F5-EB6DA6FA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D22D7-C7DF-7DDA-CD90-1BC570D0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5AA5E-9667-507F-A790-7FB6AA61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2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53DC0-039D-EC53-CBB3-366CEA95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AF7A1-682D-1632-3D7A-35653923D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2D133-89F5-C00D-347C-CAAEADC4B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C0515-3D4E-7866-BA4E-9B9756ED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71570-C552-A9CB-C73E-1738CC65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0A13D-F356-0A27-0993-906BB491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1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161A4-6ED0-45CC-8C6C-85DA70E3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86FE2-E1F3-AF7F-5DD0-787AD4764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F80B-34D7-18D1-3C37-9956F6D2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9DFAC-0F3B-87BB-D361-E61CFE390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1F5AF-8298-B1A0-80DE-9D664F6C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6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DC7252-2685-CBF4-C372-D2D442EE17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A41BF-BDA1-597A-2C36-722AFF907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BA788-E244-585A-7854-6F75AA56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248B-85B3-22DD-048B-1A82B053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9610-99BE-FB1F-A4BD-8FF8A7392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8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412B1B-E293-5D44-3E4D-00E472C58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3DF9D-09D3-D7AA-A3DF-F7B78026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DED2B-1782-1584-8222-24FCA569F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B0C01-F802-4384-80ED-0FAF6FC1AE2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EA20C-02A2-FF88-4747-D9D62D619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030F2-A284-FFFE-4D02-EA125D00AF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46B5-29CE-4800-B986-F3F1532D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E7CA1E-6153-A700-3A5E-F555EB907726}"/>
              </a:ext>
            </a:extLst>
          </p:cNvPr>
          <p:cNvSpPr txBox="1"/>
          <p:nvPr/>
        </p:nvSpPr>
        <p:spPr>
          <a:xfrm>
            <a:off x="3229356" y="265638"/>
            <a:ext cx="6431880" cy="523220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solidFill>
              <a:srgbClr val="92D050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Forecast Sales Prediction Using ML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2D832-9A11-FEA7-F1B7-1287C1634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018" y="1062182"/>
            <a:ext cx="5005745" cy="421870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480422-693E-7CFA-80C4-C74C28E93885}"/>
              </a:ext>
            </a:extLst>
          </p:cNvPr>
          <p:cNvSpPr/>
          <p:nvPr/>
        </p:nvSpPr>
        <p:spPr>
          <a:xfrm>
            <a:off x="1123465" y="1136073"/>
            <a:ext cx="4584608" cy="400858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  <a:p>
            <a:pPr algn="ctr"/>
            <a:r>
              <a:rPr lang="en-US" sz="2400" dirty="0"/>
              <a:t>Businesses struggle to predict future sales accurately, affecting inventory planning and decision-making.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589223-F83B-1D42-AAAA-8B9F681654DD}"/>
              </a:ext>
            </a:extLst>
          </p:cNvPr>
          <p:cNvSpPr/>
          <p:nvPr/>
        </p:nvSpPr>
        <p:spPr>
          <a:xfrm>
            <a:off x="1816191" y="1470892"/>
            <a:ext cx="2678545" cy="59112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Problem statement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BA5317-C31F-7932-9A23-A737AAB4C25E}"/>
              </a:ext>
            </a:extLst>
          </p:cNvPr>
          <p:cNvSpPr/>
          <p:nvPr/>
        </p:nvSpPr>
        <p:spPr>
          <a:xfrm>
            <a:off x="6881091" y="5680364"/>
            <a:ext cx="4304145" cy="82203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……By Bhaskar Mandal, </a:t>
            </a:r>
            <a:r>
              <a:rPr lang="en-US" dirty="0" err="1"/>
              <a:t>M.Tech</a:t>
            </a:r>
            <a:r>
              <a:rPr lang="en-US" dirty="0"/>
              <a:t>, IIT KGP</a:t>
            </a:r>
          </a:p>
        </p:txBody>
      </p:sp>
    </p:spTree>
    <p:extLst>
      <p:ext uri="{BB962C8B-B14F-4D97-AF65-F5344CB8AC3E}">
        <p14:creationId xmlns:p14="http://schemas.microsoft.com/office/powerpoint/2010/main" val="37521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40C1A2-B4F3-BAAD-F08C-C86F1BAC08F5}"/>
              </a:ext>
            </a:extLst>
          </p:cNvPr>
          <p:cNvSpPr txBox="1"/>
          <p:nvPr/>
        </p:nvSpPr>
        <p:spPr>
          <a:xfrm>
            <a:off x="3229356" y="219456"/>
            <a:ext cx="5733288" cy="400110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solidFill>
              <a:srgbClr val="92D050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Forecast Sales Prediction Using ML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EFC938-F460-490B-7267-8DE37F0A1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0704"/>
            <a:ext cx="8072582" cy="404164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6ECC97-2D0D-97C5-F3A7-E34E8CF1A719}"/>
              </a:ext>
            </a:extLst>
          </p:cNvPr>
          <p:cNvSpPr/>
          <p:nvPr/>
        </p:nvSpPr>
        <p:spPr>
          <a:xfrm>
            <a:off x="8224980" y="766618"/>
            <a:ext cx="3542147" cy="523701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63000"/>
              </a:schemeClr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marL="342900" indent="-342900" algn="ctr">
              <a:buAutoNum type="arabicPeriod"/>
            </a:pPr>
            <a:endParaRPr lang="en-US" dirty="0"/>
          </a:p>
          <a:p>
            <a:pPr marL="342900" indent="-342900" algn="ctr">
              <a:buAutoNum type="arabicPeriod"/>
            </a:pPr>
            <a:endParaRPr lang="en-US" dirty="0"/>
          </a:p>
          <a:p>
            <a:pPr marL="342900" indent="-342900" algn="ctr">
              <a:buAutoNum type="arabicPeriod"/>
            </a:pPr>
            <a:r>
              <a:rPr lang="en-US" dirty="0"/>
              <a:t>Predicted sales closely follow actual sales trends with good accuracy.</a:t>
            </a:r>
          </a:p>
          <a:p>
            <a:pPr marL="342900" indent="-342900" algn="ctr">
              <a:buAutoNum type="arabicPeriod"/>
            </a:pPr>
            <a:endParaRPr lang="en-US" dirty="0"/>
          </a:p>
          <a:p>
            <a:pPr algn="ctr"/>
            <a:r>
              <a:rPr lang="en-US" dirty="0"/>
              <a:t>2. Prediction errors increase during sudden high sales peaks.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Add seasonal and promotional factors to improve forecast accuracy.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DB7B05-06C9-69E1-B95D-582FA3183225}"/>
              </a:ext>
            </a:extLst>
          </p:cNvPr>
          <p:cNvSpPr/>
          <p:nvPr/>
        </p:nvSpPr>
        <p:spPr>
          <a:xfrm>
            <a:off x="8962644" y="1043708"/>
            <a:ext cx="2068947" cy="503382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Insights</a:t>
            </a:r>
            <a:r>
              <a:rPr lang="en-US" sz="2400" dirty="0"/>
              <a:t>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59E422-5545-7BB3-7A17-980207558991}"/>
              </a:ext>
            </a:extLst>
          </p:cNvPr>
          <p:cNvSpPr/>
          <p:nvPr/>
        </p:nvSpPr>
        <p:spPr>
          <a:xfrm>
            <a:off x="9050389" y="3616036"/>
            <a:ext cx="2068947" cy="503382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Recommend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3324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C9DCB4-CD89-EE2D-FE19-246334B07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8136"/>
            <a:ext cx="8083296" cy="395020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797651-C9CB-45F1-672D-F10C9642E383}"/>
              </a:ext>
            </a:extLst>
          </p:cNvPr>
          <p:cNvSpPr/>
          <p:nvPr/>
        </p:nvSpPr>
        <p:spPr>
          <a:xfrm>
            <a:off x="8083296" y="977300"/>
            <a:ext cx="3831612" cy="495244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63000"/>
              </a:schemeClr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1.Random Forest closely captures actual sales patterns with higher prediction accuracy.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2. The model effectively follows major sales peaks and fluctuations.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Use Random Forest for reliable future forecasting.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DD846-390D-DBC3-4E2F-F5F6726DB22C}"/>
              </a:ext>
            </a:extLst>
          </p:cNvPr>
          <p:cNvSpPr txBox="1"/>
          <p:nvPr/>
        </p:nvSpPr>
        <p:spPr>
          <a:xfrm>
            <a:off x="3229356" y="219456"/>
            <a:ext cx="5733288" cy="369332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solidFill>
              <a:srgbClr val="92D050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Forecast </a:t>
            </a:r>
            <a:r>
              <a:rPr lang="en-US" dirty="0"/>
              <a:t>Sales Prediction </a:t>
            </a:r>
            <a:r>
              <a:rPr lang="en-US"/>
              <a:t>Using ML Model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3D6A8F-DBF9-093C-438A-CC38579B8546}"/>
              </a:ext>
            </a:extLst>
          </p:cNvPr>
          <p:cNvSpPr/>
          <p:nvPr/>
        </p:nvSpPr>
        <p:spPr>
          <a:xfrm>
            <a:off x="8962644" y="1226682"/>
            <a:ext cx="2068947" cy="503382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Insights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FF4ECD-C7E8-88AB-DE63-4D507350F31D}"/>
              </a:ext>
            </a:extLst>
          </p:cNvPr>
          <p:cNvSpPr/>
          <p:nvPr/>
        </p:nvSpPr>
        <p:spPr>
          <a:xfrm>
            <a:off x="8962644" y="3963831"/>
            <a:ext cx="2068947" cy="503382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Recommend </a:t>
            </a:r>
          </a:p>
        </p:txBody>
      </p:sp>
    </p:spTree>
    <p:extLst>
      <p:ext uri="{BB962C8B-B14F-4D97-AF65-F5344CB8AC3E}">
        <p14:creationId xmlns:p14="http://schemas.microsoft.com/office/powerpoint/2010/main" val="345586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0F309-8F0D-C7A6-CEE2-E16225985E75}"/>
              </a:ext>
            </a:extLst>
          </p:cNvPr>
          <p:cNvSpPr txBox="1"/>
          <p:nvPr/>
        </p:nvSpPr>
        <p:spPr>
          <a:xfrm>
            <a:off x="3229356" y="219456"/>
            <a:ext cx="5733288" cy="369332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solidFill>
              <a:srgbClr val="92D050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Forecast Sales Prediction Using ML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D427E4-7C5D-0AD1-B30F-1CDF5D9D4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820" y="1325942"/>
            <a:ext cx="7915564" cy="396492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FCC54A-FDF1-E12E-EB28-AE7AABDEF0C8}"/>
              </a:ext>
            </a:extLst>
          </p:cNvPr>
          <p:cNvSpPr/>
          <p:nvPr/>
        </p:nvSpPr>
        <p:spPr>
          <a:xfrm>
            <a:off x="285819" y="1217722"/>
            <a:ext cx="3737125" cy="486904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63000"/>
              </a:schemeClr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dirty="0"/>
              <a:t>1. Most errors are close to zero.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2. Large sales values create higher prediction errors.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2000" dirty="0"/>
          </a:p>
          <a:p>
            <a:pPr algn="ctr"/>
            <a:endParaRPr lang="en-US" dirty="0"/>
          </a:p>
          <a:p>
            <a:pPr algn="ctr"/>
            <a:r>
              <a:rPr lang="en-US" dirty="0"/>
              <a:t>Use Random Forest for better accuracy.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431A38-2435-E159-2C8A-E03D9919D525}"/>
              </a:ext>
            </a:extLst>
          </p:cNvPr>
          <p:cNvSpPr/>
          <p:nvPr/>
        </p:nvSpPr>
        <p:spPr>
          <a:xfrm>
            <a:off x="1129144" y="1464487"/>
            <a:ext cx="2050473" cy="609600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Insights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64B7A4-1C19-49E9-AA93-AF7F66376575}"/>
              </a:ext>
            </a:extLst>
          </p:cNvPr>
          <p:cNvSpPr/>
          <p:nvPr/>
        </p:nvSpPr>
        <p:spPr>
          <a:xfrm>
            <a:off x="1071673" y="4177455"/>
            <a:ext cx="2050473" cy="609600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Recommend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2146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E4818E-C1D5-10E8-1E9B-BEFBDF0A4ED2}"/>
              </a:ext>
            </a:extLst>
          </p:cNvPr>
          <p:cNvSpPr txBox="1"/>
          <p:nvPr/>
        </p:nvSpPr>
        <p:spPr>
          <a:xfrm>
            <a:off x="3229356" y="219456"/>
            <a:ext cx="5733288" cy="369332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solidFill>
              <a:srgbClr val="92D050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Forecast </a:t>
            </a:r>
            <a:r>
              <a:rPr lang="en-US" dirty="0"/>
              <a:t>Sales Prediction Using </a:t>
            </a:r>
            <a:r>
              <a:rPr lang="en-US"/>
              <a:t>ML Model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0AE13-FA39-ED3B-5BBC-DD17FFA9A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688" y="704089"/>
            <a:ext cx="7068312" cy="390806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BFA67F6-82AA-648F-B279-C4A4174C3A80}"/>
              </a:ext>
            </a:extLst>
          </p:cNvPr>
          <p:cNvSpPr/>
          <p:nvPr/>
        </p:nvSpPr>
        <p:spPr>
          <a:xfrm>
            <a:off x="493776" y="914400"/>
            <a:ext cx="3948915" cy="487365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63000"/>
              </a:schemeClr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1. Errors are highly concentrated near zero, indicating strong prediction accuracy.</a:t>
            </a:r>
          </a:p>
          <a:p>
            <a:pPr algn="ctr"/>
            <a:r>
              <a:rPr lang="en-US" dirty="0"/>
              <a:t>2. Random Forest produces fewer large prediction errors.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Use Random Forest as the final forecasting model.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DBA24E-BB6C-C104-222B-3C10BC9FF7A1}"/>
              </a:ext>
            </a:extLst>
          </p:cNvPr>
          <p:cNvSpPr/>
          <p:nvPr/>
        </p:nvSpPr>
        <p:spPr>
          <a:xfrm>
            <a:off x="1557481" y="1069941"/>
            <a:ext cx="1861127" cy="609600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Insights </a:t>
            </a:r>
            <a:endParaRPr lang="en-US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8D61C7-50A2-DD94-C74A-66F20C43B5A9}"/>
              </a:ext>
            </a:extLst>
          </p:cNvPr>
          <p:cNvSpPr/>
          <p:nvPr/>
        </p:nvSpPr>
        <p:spPr>
          <a:xfrm>
            <a:off x="1368135" y="3864003"/>
            <a:ext cx="2050473" cy="609600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Recommend </a:t>
            </a:r>
          </a:p>
        </p:txBody>
      </p:sp>
    </p:spTree>
    <p:extLst>
      <p:ext uri="{BB962C8B-B14F-4D97-AF65-F5344CB8AC3E}">
        <p14:creationId xmlns:p14="http://schemas.microsoft.com/office/powerpoint/2010/main" val="414486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CED002-1E3B-10A7-C8FD-5B78A0997071}"/>
              </a:ext>
            </a:extLst>
          </p:cNvPr>
          <p:cNvSpPr txBox="1"/>
          <p:nvPr/>
        </p:nvSpPr>
        <p:spPr>
          <a:xfrm>
            <a:off x="3229356" y="219456"/>
            <a:ext cx="5733288" cy="369332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solidFill>
              <a:srgbClr val="92D050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Forecast Sales Prediction Using ML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390DE-DDD5-C5BE-3256-591CBE453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" y="941832"/>
            <a:ext cx="7810638" cy="5349240"/>
          </a:xfrm>
          <a:prstGeom prst="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57BC40-343F-B6F3-1B58-D733295AF716}"/>
              </a:ext>
            </a:extLst>
          </p:cNvPr>
          <p:cNvSpPr/>
          <p:nvPr/>
        </p:nvSpPr>
        <p:spPr>
          <a:xfrm>
            <a:off x="7795491" y="941832"/>
            <a:ext cx="3805382" cy="51572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63000"/>
              </a:schemeClr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1. Product category has the strongest influence on sales prediction.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2. Priority and product type significantly affect sales patterns.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Focus marketing and inventory planning on high-impact features.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E65821-272D-0AD1-7547-72DAAA184C8D}"/>
              </a:ext>
            </a:extLst>
          </p:cNvPr>
          <p:cNvSpPr/>
          <p:nvPr/>
        </p:nvSpPr>
        <p:spPr>
          <a:xfrm>
            <a:off x="8781703" y="1200450"/>
            <a:ext cx="2050473" cy="609600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Insights </a:t>
            </a:r>
            <a:endParaRPr lang="en-US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9D5735-B4C3-93C8-9309-08286006E8AF}"/>
              </a:ext>
            </a:extLst>
          </p:cNvPr>
          <p:cNvSpPr/>
          <p:nvPr/>
        </p:nvSpPr>
        <p:spPr>
          <a:xfrm>
            <a:off x="8781703" y="4031396"/>
            <a:ext cx="2050473" cy="609600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Recommend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07683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C6170D-0CB0-5E98-8D73-D3F4AAA078DF}"/>
              </a:ext>
            </a:extLst>
          </p:cNvPr>
          <p:cNvSpPr txBox="1"/>
          <p:nvPr/>
        </p:nvSpPr>
        <p:spPr>
          <a:xfrm>
            <a:off x="3229356" y="219456"/>
            <a:ext cx="5733288" cy="369332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solidFill>
              <a:srgbClr val="92D050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Forecast Sales Prediction Using ML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D5E78-C1AA-E10C-C879-AA0502582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12" y="668036"/>
            <a:ext cx="7879449" cy="519022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3915C4-75EB-88D4-19EB-71DB4A8AE9AA}"/>
              </a:ext>
            </a:extLst>
          </p:cNvPr>
          <p:cNvSpPr/>
          <p:nvPr/>
        </p:nvSpPr>
        <p:spPr>
          <a:xfrm>
            <a:off x="8085189" y="856441"/>
            <a:ext cx="3805382" cy="502872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63000"/>
              </a:schemeClr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1. Shipping cost has the strongest impact on sales prediction.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2. Profit and quantity also contribute significantly to forecasting.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Focus on optimizing shipping cost and profit strategies to improve sales performance.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397A54-7151-164D-FC8E-B8BC6CE69011}"/>
              </a:ext>
            </a:extLst>
          </p:cNvPr>
          <p:cNvSpPr/>
          <p:nvPr/>
        </p:nvSpPr>
        <p:spPr>
          <a:xfrm>
            <a:off x="9073480" y="972836"/>
            <a:ext cx="2050473" cy="609600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Insights </a:t>
            </a:r>
            <a:endParaRPr lang="en-US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B7F0F9-DCDA-6FBF-F8D6-929AA3B55A6E}"/>
              </a:ext>
            </a:extLst>
          </p:cNvPr>
          <p:cNvSpPr/>
          <p:nvPr/>
        </p:nvSpPr>
        <p:spPr>
          <a:xfrm>
            <a:off x="8962643" y="3537057"/>
            <a:ext cx="2050473" cy="609600"/>
          </a:xfrm>
          <a:prstGeom prst="roundRect">
            <a:avLst/>
          </a:prstGeom>
          <a:solidFill>
            <a:srgbClr val="7030A0">
              <a:alpha val="27000"/>
            </a:srgbClr>
          </a:solidFill>
          <a:effectLst>
            <a:outerShdw blurRad="50800" dist="38100" dir="2700000" algn="tl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Recommend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77915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D74BB9-DB53-F5E7-BC6A-02D9EEC3C7FE}"/>
              </a:ext>
            </a:extLst>
          </p:cNvPr>
          <p:cNvSpPr txBox="1"/>
          <p:nvPr/>
        </p:nvSpPr>
        <p:spPr>
          <a:xfrm>
            <a:off x="3229356" y="219456"/>
            <a:ext cx="5733288" cy="369332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solidFill>
              <a:srgbClr val="92D050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Forecast Sales Prediction Using ML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88D7D-696A-17CA-6E86-6808BC3A3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016" y="822961"/>
            <a:ext cx="8412480" cy="373989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7C2D24-FB13-B906-0958-AC248620494E}"/>
              </a:ext>
            </a:extLst>
          </p:cNvPr>
          <p:cNvSpPr/>
          <p:nvPr/>
        </p:nvSpPr>
        <p:spPr>
          <a:xfrm>
            <a:off x="1889760" y="4797030"/>
            <a:ext cx="8412480" cy="15510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63000"/>
              </a:schemeClr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Future sales are expected to remain relatively stable over the next 30 days.</a:t>
            </a:r>
          </a:p>
          <a:p>
            <a:pPr algn="ctr"/>
            <a:r>
              <a:rPr lang="en-US" dirty="0"/>
              <a:t>     Minor fluctuations indicate moderate variation in demand.</a:t>
            </a:r>
          </a:p>
          <a:p>
            <a:pPr algn="ctr"/>
            <a:r>
              <a:rPr lang="en-US" dirty="0"/>
              <a:t>  Use forecast trends for inventory and resource planning.</a:t>
            </a:r>
          </a:p>
        </p:txBody>
      </p:sp>
    </p:spTree>
    <p:extLst>
      <p:ext uri="{BB962C8B-B14F-4D97-AF65-F5344CB8AC3E}">
        <p14:creationId xmlns:p14="http://schemas.microsoft.com/office/powerpoint/2010/main" val="4108920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1DB632-5719-58DF-D59C-4885F0EB2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976" y="850393"/>
            <a:ext cx="8065008" cy="37581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1F8585-CC62-0020-99F1-055895B3FA68}"/>
              </a:ext>
            </a:extLst>
          </p:cNvPr>
          <p:cNvSpPr txBox="1"/>
          <p:nvPr/>
        </p:nvSpPr>
        <p:spPr>
          <a:xfrm>
            <a:off x="3229356" y="219456"/>
            <a:ext cx="5733288" cy="369332"/>
          </a:xfrm>
          <a:prstGeom prst="rect">
            <a:avLst/>
          </a:prstGeom>
          <a:solidFill>
            <a:srgbClr val="00B0F0">
              <a:alpha val="82000"/>
            </a:srgbClr>
          </a:solidFill>
          <a:ln>
            <a:solidFill>
              <a:srgbClr val="92D050">
                <a:alpha val="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Forecast Sales Prediction Using ML Model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495DC9-2F97-36FD-9F4A-EBB9C3E23BCB}"/>
              </a:ext>
            </a:extLst>
          </p:cNvPr>
          <p:cNvSpPr/>
          <p:nvPr/>
        </p:nvSpPr>
        <p:spPr>
          <a:xfrm>
            <a:off x="2304472" y="4870181"/>
            <a:ext cx="7583055" cy="169708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  <a:alpha val="63000"/>
              </a:schemeClr>
            </a:solidFill>
          </a:ln>
          <a:effectLst>
            <a:outerShdw blurRad="50800" dist="381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Random Forest predicts fluctuating future sales patterns effectively.</a:t>
            </a:r>
          </a:p>
          <a:p>
            <a:pPr algn="ctr"/>
            <a:r>
              <a:rPr lang="en-US" dirty="0"/>
              <a:t>Sales spikes indicate changing demand behavior over time.</a:t>
            </a:r>
          </a:p>
          <a:p>
            <a:pPr algn="ctr"/>
            <a:r>
              <a:rPr lang="en-US" dirty="0"/>
              <a:t>Use Random Forest forecasts for inventory and demand planning.</a:t>
            </a:r>
          </a:p>
        </p:txBody>
      </p:sp>
    </p:spTree>
    <p:extLst>
      <p:ext uri="{BB962C8B-B14F-4D97-AF65-F5344CB8AC3E}">
        <p14:creationId xmlns:p14="http://schemas.microsoft.com/office/powerpoint/2010/main" val="3313949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4B74E0-30D0-3572-5BBC-4274971AD283}"/>
              </a:ext>
            </a:extLst>
          </p:cNvPr>
          <p:cNvSpPr/>
          <p:nvPr/>
        </p:nvSpPr>
        <p:spPr>
          <a:xfrm>
            <a:off x="5116944" y="526473"/>
            <a:ext cx="2216727" cy="665018"/>
          </a:xfrm>
          <a:prstGeom prst="roundRect">
            <a:avLst/>
          </a:prstGeom>
          <a:solidFill>
            <a:schemeClr val="accent1">
              <a:alpha val="60000"/>
            </a:schemeClr>
          </a:solidFill>
          <a:effectLst>
            <a:outerShdw blurRad="50800" dist="38100" dir="2700000" algn="tl" rotWithShape="0">
              <a:prstClr val="black">
                <a:alpha val="4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Conclusion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E46D5C-20A0-8BA4-D46A-DDCED9734B85}"/>
              </a:ext>
            </a:extLst>
          </p:cNvPr>
          <p:cNvSpPr/>
          <p:nvPr/>
        </p:nvSpPr>
        <p:spPr>
          <a:xfrm>
            <a:off x="1764146" y="1958110"/>
            <a:ext cx="9153236" cy="3500580"/>
          </a:xfrm>
          <a:prstGeom prst="roundRect">
            <a:avLst/>
          </a:prstGeom>
          <a:solidFill>
            <a:schemeClr val="accent1">
              <a:alpha val="60000"/>
            </a:schemeClr>
          </a:solidFill>
          <a:effectLst>
            <a:outerShdw blurRad="50800" dist="38100" dir="2700000" algn="tl" rotWithShape="0">
              <a:prstClr val="black">
                <a:alpha val="4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• Linear Regression performed well for simple and linear sales relationships </a:t>
            </a:r>
            <a:r>
              <a:rPr lang="en-US" i="1" dirty="0"/>
              <a:t>(R² ≈ 0.76).</a:t>
            </a:r>
            <a:endParaRPr lang="en-US" dirty="0"/>
          </a:p>
          <a:p>
            <a:pPr algn="ctr"/>
            <a:r>
              <a:rPr lang="en-US" dirty="0"/>
              <a:t>           • Random Forest achieved better accuracy and lower prediction error </a:t>
            </a:r>
            <a:r>
              <a:rPr lang="en-US" i="1" dirty="0"/>
              <a:t>(R² ≈ 0.87).</a:t>
            </a:r>
            <a:endParaRPr lang="en-US" dirty="0"/>
          </a:p>
          <a:p>
            <a:pPr algn="ctr"/>
            <a:r>
              <a:rPr lang="en-US" dirty="0"/>
              <a:t>                • Linear Regression is suitable for </a:t>
            </a:r>
            <a:r>
              <a:rPr lang="en-US" b="1" dirty="0"/>
              <a:t>simple, stable, and linear data patterns</a:t>
            </a:r>
            <a:r>
              <a:rPr lang="en-US" dirty="0"/>
              <a:t>.</a:t>
            </a:r>
          </a:p>
          <a:p>
            <a:pPr algn="ctr"/>
            <a:r>
              <a:rPr lang="en-US" dirty="0"/>
              <a:t>               • Random Forest is suitable for </a:t>
            </a:r>
            <a:r>
              <a:rPr lang="en-US" b="1" dirty="0"/>
              <a:t>complex, nonlinear, and fluctuating sales patterns</a:t>
            </a:r>
            <a:r>
              <a:rPr lang="en-US" dirty="0"/>
              <a:t>.</a:t>
            </a:r>
          </a:p>
          <a:p>
            <a:pPr algn="ctr"/>
            <a:r>
              <a:rPr lang="en-US" dirty="0"/>
              <a:t>           • Random Forest was selected as the </a:t>
            </a:r>
            <a:r>
              <a:rPr lang="en-US" b="1" dirty="0"/>
              <a:t>final model for future forecasting</a:t>
            </a:r>
            <a:r>
              <a:rPr lang="en-US" dirty="0"/>
              <a:t> due to stronger predictive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254892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6826A4-AD85-CADB-9093-2465C3080473}"/>
              </a:ext>
            </a:extLst>
          </p:cNvPr>
          <p:cNvSpPr/>
          <p:nvPr/>
        </p:nvSpPr>
        <p:spPr>
          <a:xfrm>
            <a:off x="3749964" y="2022764"/>
            <a:ext cx="5449455" cy="2641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42965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437</Words>
  <Application>Microsoft Office PowerPoint</Application>
  <PresentationFormat>Widescreen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IIT KGPIAN</dc:creator>
  <cp:lastModifiedBy>IIT KGPIAN</cp:lastModifiedBy>
  <cp:revision>3</cp:revision>
  <dcterms:created xsi:type="dcterms:W3CDTF">2026-05-23T09:15:05Z</dcterms:created>
  <dcterms:modified xsi:type="dcterms:W3CDTF">2026-05-23T10:33:07Z</dcterms:modified>
</cp:coreProperties>
</file>